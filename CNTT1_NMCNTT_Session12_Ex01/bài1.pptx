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3"/>
    <p:sldId id="263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4.xml"/><Relationship Id="rId1" Type="http://schemas.openxmlformats.org/officeDocument/2006/relationships/image" Target="../media/image1.web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image" Target="../media/image1.web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/>
          <p:nvPr/>
        </p:nvPicPr>
        <p:blipFill>
          <a:blip r:embed="rId1"/>
          <a:srcRect l="70253" t="12122" r="23180" b="84969"/>
          <a:stretch>
            <a:fillRect/>
          </a:stretch>
        </p:blipFill>
        <p:spPr>
          <a:xfrm>
            <a:off x="621665" y="408940"/>
            <a:ext cx="2489835" cy="109537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68680" y="1628140"/>
            <a:ext cx="2780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latin typeface="Times New Roman" panose="02020603050405020304" charset="0"/>
                <a:cs typeface="Times New Roman" panose="02020603050405020304" charset="0"/>
              </a:rPr>
              <a:t>Ví điện tử cho sinh viên</a:t>
            </a:r>
            <a:endParaRPr lang="vi-VN" alt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3012440" y="2120265"/>
            <a:ext cx="3816350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40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Báo Cáo Lỗ Lãi</a:t>
            </a:r>
            <a:endParaRPr lang="vi-VN" altLang="en-US" sz="4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vi-VN" altLang="en-US" sz="2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039745" y="273558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sz="2800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Tháng 05/2024</a:t>
            </a:r>
            <a:endParaRPr lang="vi-VN" altLang="en-US" sz="2800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10" name="Picture 9"/>
          <p:cNvPicPr/>
          <p:nvPr/>
        </p:nvPicPr>
        <p:blipFill>
          <a:blip r:embed="rId1"/>
          <a:srcRect l="85731" t="10640" r="851" b="65446"/>
          <a:stretch>
            <a:fillRect/>
          </a:stretch>
        </p:blipFill>
        <p:spPr>
          <a:xfrm>
            <a:off x="6445250" y="0"/>
            <a:ext cx="5746750" cy="6858635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1"/>
          <a:srcRect l="72137" t="27216" r="23643" b="69964"/>
          <a:stretch>
            <a:fillRect/>
          </a:stretch>
        </p:blipFill>
        <p:spPr>
          <a:xfrm>
            <a:off x="2916555" y="3216275"/>
            <a:ext cx="1334135" cy="4254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/>
          <p:nvPr/>
        </p:nvPicPr>
        <p:blipFill>
          <a:blip r:embed="rId1"/>
          <a:srcRect l="69803" t="40247" r="23487" b="54009"/>
          <a:stretch>
            <a:fillRect/>
          </a:stretch>
        </p:blipFill>
        <p:spPr>
          <a:xfrm>
            <a:off x="1330325" y="1192530"/>
            <a:ext cx="1698625" cy="122682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1"/>
          <a:srcRect l="76937" t="40392" r="16353" b="53865"/>
          <a:stretch>
            <a:fillRect/>
          </a:stretch>
        </p:blipFill>
        <p:spPr>
          <a:xfrm>
            <a:off x="3808730" y="1245870"/>
            <a:ext cx="1698625" cy="122682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1330325" y="623570"/>
            <a:ext cx="24079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>
                <a:solidFill>
                  <a:schemeClr val="accent1"/>
                </a:solidFill>
                <a:sym typeface="+mn-ea"/>
              </a:rPr>
              <a:t>Tổng Quan Kết Quả </a:t>
            </a:r>
            <a:endParaRPr lang="vi-VN" altLang="en-US">
              <a:solidFill>
                <a:schemeClr val="accent1"/>
              </a:solidFill>
              <a:sym typeface="+mn-ea"/>
            </a:endParaRPr>
          </a:p>
        </p:txBody>
      </p:sp>
      <p:pic>
        <p:nvPicPr>
          <p:cNvPr id="7" name="Picture 6"/>
          <p:cNvPicPr/>
          <p:nvPr/>
        </p:nvPicPr>
        <p:blipFill>
          <a:blip r:embed="rId1"/>
          <a:srcRect l="83860" t="39962" r="9431" b="54295"/>
          <a:stretch>
            <a:fillRect/>
          </a:stretch>
        </p:blipFill>
        <p:spPr>
          <a:xfrm>
            <a:off x="6287135" y="1245870"/>
            <a:ext cx="1698625" cy="122682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1"/>
          <a:srcRect l="91204" t="40247" r="2086" b="54009"/>
          <a:stretch>
            <a:fillRect/>
          </a:stretch>
        </p:blipFill>
        <p:spPr>
          <a:xfrm>
            <a:off x="8765540" y="1245870"/>
            <a:ext cx="1698625" cy="12268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1362710" y="2425700"/>
            <a:ext cx="1651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/>
              <a:t>Doanh thu thuần</a:t>
            </a:r>
            <a:endParaRPr lang="vi-V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3867150" y="2472690"/>
            <a:ext cx="1566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chemeClr val="accent3">
                    <a:lumMod val="50000"/>
                  </a:schemeClr>
                </a:solidFill>
              </a:rPr>
              <a:t>Tổng Chi Phí</a:t>
            </a:r>
            <a:endParaRPr lang="vi-VN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287135" y="2520315"/>
            <a:ext cx="2135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chemeClr val="accent1">
                    <a:lumMod val="50000"/>
                  </a:schemeClr>
                </a:solidFill>
              </a:rPr>
              <a:t>Lợi Nhuận Gộp</a:t>
            </a:r>
            <a:endParaRPr lang="vi-VN" altLang="en-US">
              <a:solidFill>
                <a:schemeClr val="accent1">
                  <a:lumMod val="50000"/>
                </a:schemeClr>
              </a:solidFill>
            </a:endParaRPr>
          </a:p>
          <a:p>
            <a:endParaRPr lang="vi-VN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8646795" y="2520315"/>
            <a:ext cx="24079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rgbClr val="FFFF00"/>
                </a:solidFill>
              </a:rPr>
              <a:t>Lợi Nhuận Sau Thuế</a:t>
            </a:r>
            <a:endParaRPr lang="vi-VN" altLang="en-US">
              <a:solidFill>
                <a:srgbClr val="FFFF00"/>
              </a:solidFill>
            </a:endParaRPr>
          </a:p>
          <a:p>
            <a:endParaRPr lang="vi-VN" altLang="en-US">
              <a:solidFill>
                <a:srgbClr val="FFFF00"/>
              </a:solidFill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1616710" y="3070860"/>
            <a:ext cx="1379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>
                <a:solidFill>
                  <a:schemeClr val="accent1"/>
                </a:solidFill>
              </a:rPr>
              <a:t>12,45</a:t>
            </a:r>
            <a:endParaRPr lang="vi-VN" altLang="en-US">
              <a:solidFill>
                <a:schemeClr val="accent1"/>
              </a:solidFill>
            </a:endParaRPr>
          </a:p>
          <a:p>
            <a:pPr algn="ctr"/>
            <a:r>
              <a:rPr lang="vi-VN" altLang="en-US">
                <a:solidFill>
                  <a:schemeClr val="accent1"/>
                </a:solidFill>
              </a:rPr>
              <a:t>Tỷ VNĐ </a:t>
            </a:r>
            <a:endParaRPr lang="vi-VN" altLang="en-US">
              <a:solidFill>
                <a:schemeClr val="accent1"/>
              </a:solidFill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3935095" y="2959100"/>
            <a:ext cx="14986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>
                <a:solidFill>
                  <a:schemeClr val="accent3">
                    <a:lumMod val="50000"/>
                  </a:schemeClr>
                </a:solidFill>
              </a:rPr>
              <a:t>7,28 </a:t>
            </a:r>
            <a:endParaRPr lang="vi-VN" altLang="en-US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vi-VN" altLang="en-US">
                <a:solidFill>
                  <a:schemeClr val="accent3">
                    <a:lumMod val="50000"/>
                  </a:schemeClr>
                </a:solidFill>
              </a:rPr>
              <a:t>Tỷ VNĐ</a:t>
            </a:r>
            <a:endParaRPr lang="vi-VN" altLang="en-US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5" name="Text Box 14"/>
          <p:cNvSpPr txBox="1"/>
          <p:nvPr/>
        </p:nvSpPr>
        <p:spPr>
          <a:xfrm>
            <a:off x="6383655" y="2959100"/>
            <a:ext cx="14814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>
                <a:solidFill>
                  <a:srgbClr val="002060"/>
                </a:solidFill>
              </a:rPr>
              <a:t>5,17</a:t>
            </a:r>
            <a:endParaRPr lang="vi-VN" altLang="en-US">
              <a:solidFill>
                <a:srgbClr val="002060"/>
              </a:solidFill>
            </a:endParaRPr>
          </a:p>
          <a:p>
            <a:pPr algn="ctr"/>
            <a:r>
              <a:rPr lang="vi-VN" altLang="en-US">
                <a:solidFill>
                  <a:srgbClr val="002060"/>
                </a:solidFill>
              </a:rPr>
              <a:t>Tỷ VNĐ</a:t>
            </a:r>
            <a:endParaRPr lang="vi-VN" altLang="en-US">
              <a:solidFill>
                <a:srgbClr val="002060"/>
              </a:solidFill>
            </a:endParaRPr>
          </a:p>
        </p:txBody>
      </p:sp>
      <p:sp>
        <p:nvSpPr>
          <p:cNvPr id="16" name="Text Box 15"/>
          <p:cNvSpPr txBox="1"/>
          <p:nvPr/>
        </p:nvSpPr>
        <p:spPr>
          <a:xfrm>
            <a:off x="8677910" y="2975610"/>
            <a:ext cx="1887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vi-VN" altLang="en-US">
                <a:solidFill>
                  <a:srgbClr val="FFFF00"/>
                </a:solidFill>
              </a:rPr>
              <a:t>2,89</a:t>
            </a:r>
            <a:endParaRPr lang="vi-VN" altLang="en-US">
              <a:solidFill>
                <a:srgbClr val="FFFF00"/>
              </a:solidFill>
            </a:endParaRPr>
          </a:p>
          <a:p>
            <a:pPr algn="ctr"/>
            <a:r>
              <a:rPr lang="vi-VN" altLang="en-US">
                <a:solidFill>
                  <a:srgbClr val="FFFF00"/>
                </a:solidFill>
              </a:rPr>
              <a:t>Tỷ VNĐ</a:t>
            </a:r>
            <a:endParaRPr lang="vi-VN" altLang="en-US">
              <a:solidFill>
                <a:srgbClr val="FFFF00"/>
              </a:solidFill>
            </a:endParaRPr>
          </a:p>
        </p:txBody>
      </p:sp>
      <p:pic>
        <p:nvPicPr>
          <p:cNvPr id="17" name="Picture 16"/>
          <p:cNvPicPr/>
          <p:nvPr/>
        </p:nvPicPr>
        <p:blipFill>
          <a:blip r:embed="rId1"/>
          <a:srcRect l="71336" t="55997" r="27661" b="42279"/>
          <a:stretch>
            <a:fillRect/>
          </a:stretch>
        </p:blipFill>
        <p:spPr>
          <a:xfrm>
            <a:off x="1330325" y="3941445"/>
            <a:ext cx="254000" cy="368300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1"/>
          <a:srcRect l="71336" t="55997" r="27661" b="42279"/>
          <a:stretch>
            <a:fillRect/>
          </a:stretch>
        </p:blipFill>
        <p:spPr>
          <a:xfrm>
            <a:off x="3867150" y="3941445"/>
            <a:ext cx="254000" cy="36830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"/>
          <a:srcRect l="71336" t="55997" r="27661" b="42279"/>
          <a:stretch>
            <a:fillRect/>
          </a:stretch>
        </p:blipFill>
        <p:spPr>
          <a:xfrm>
            <a:off x="6287135" y="3941445"/>
            <a:ext cx="254000" cy="368300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1"/>
          <a:srcRect l="71336" t="55997" r="27661" b="42279"/>
          <a:stretch>
            <a:fillRect/>
          </a:stretch>
        </p:blipFill>
        <p:spPr>
          <a:xfrm>
            <a:off x="8765540" y="3941445"/>
            <a:ext cx="254000" cy="368300"/>
          </a:xfrm>
          <a:prstGeom prst="rect">
            <a:avLst/>
          </a:prstGeom>
        </p:spPr>
      </p:pic>
      <p:sp>
        <p:nvSpPr>
          <p:cNvPr id="21" name="Text Box 20"/>
          <p:cNvSpPr txBox="1"/>
          <p:nvPr/>
        </p:nvSpPr>
        <p:spPr>
          <a:xfrm>
            <a:off x="1750695" y="3941445"/>
            <a:ext cx="1566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rgbClr val="0070C0"/>
                </a:solidFill>
              </a:rPr>
              <a:t>+18,6%</a:t>
            </a:r>
            <a:endParaRPr lang="vi-VN" altLang="en-US">
              <a:solidFill>
                <a:srgbClr val="0070C0"/>
              </a:solidFill>
            </a:endParaRPr>
          </a:p>
          <a:p>
            <a:endParaRPr lang="vi-VN" altLang="en-US">
              <a:solidFill>
                <a:srgbClr val="0070C0"/>
              </a:solidFill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4180205" y="3941445"/>
            <a:ext cx="1007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rgbClr val="00B050"/>
                </a:solidFill>
              </a:rPr>
              <a:t>+12,1%</a:t>
            </a:r>
            <a:endParaRPr lang="vi-VN" altLang="en-US">
              <a:solidFill>
                <a:srgbClr val="00B05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019540" y="3941445"/>
            <a:ext cx="1733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FFFF00"/>
                </a:solidFill>
              </a:rPr>
              <a:t>31,2 %</a:t>
            </a:r>
            <a:endParaRPr lang="en-US" altLang="en-US">
              <a:solidFill>
                <a:srgbClr val="FFFF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606540" y="3941445"/>
            <a:ext cx="13792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27,</a:t>
            </a:r>
            <a:r>
              <a:rPr lang="vi-VN" altLang="en-US"/>
              <a:t>4%</a:t>
            </a:r>
            <a:endParaRPr lang="vi-VN" altLang="en-US"/>
          </a:p>
        </p:txBody>
      </p:sp>
      <p:sp>
        <p:nvSpPr>
          <p:cNvPr id="23" name="Text Box 22"/>
          <p:cNvSpPr txBox="1"/>
          <p:nvPr/>
        </p:nvSpPr>
        <p:spPr>
          <a:xfrm>
            <a:off x="1330325" y="4309745"/>
            <a:ext cx="1852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so với </a:t>
            </a:r>
            <a:r>
              <a:rPr lang="vi-VN" altLang="en-US"/>
              <a:t>T4/</a:t>
            </a:r>
            <a:r>
              <a:rPr lang="vi-VN" altLang="en-US"/>
              <a:t>2024</a:t>
            </a:r>
            <a:endParaRPr lang="vi-VN" altLang="en-US"/>
          </a:p>
        </p:txBody>
      </p:sp>
      <p:sp>
        <p:nvSpPr>
          <p:cNvPr id="24" name="Text Box 23"/>
          <p:cNvSpPr txBox="1"/>
          <p:nvPr/>
        </p:nvSpPr>
        <p:spPr>
          <a:xfrm>
            <a:off x="8765540" y="43097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>
                <a:sym typeface="+mn-ea"/>
              </a:rPr>
              <a:t>so với T4/2024</a:t>
            </a:r>
            <a:endParaRPr lang="vi-VN" altLang="en-US">
              <a:sym typeface="+mn-ea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6287135" y="43097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>
                <a:sym typeface="+mn-ea"/>
              </a:rPr>
              <a:t>so với T4/2024</a:t>
            </a:r>
            <a:endParaRPr lang="vi-VN" altLang="en-US">
              <a:sym typeface="+mn-ea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867150" y="43097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vi-VN" altLang="en-US">
                <a:sym typeface="+mn-ea"/>
              </a:rPr>
              <a:t>so với T4/2024</a:t>
            </a:r>
            <a:endParaRPr lang="vi-V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468630" y="392430"/>
            <a:ext cx="3624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DOANH THU THUẦN </a:t>
            </a:r>
            <a:r>
              <a:rPr lang="vi-VN" altLang="en-US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cs typeface="Times New Roman" panose="02020603050405020304" charset="0"/>
              </a:rPr>
              <a:t>(tỷ VNĐ)</a:t>
            </a:r>
            <a:endParaRPr lang="vi-VN" altLang="en-US">
              <a:gradFill>
                <a:gsLst>
                  <a:gs pos="50000">
                    <a:schemeClr val="accent1"/>
                  </a:gs>
                  <a:gs pos="0">
                    <a:schemeClr val="accent1">
                      <a:lumMod val="25000"/>
                      <a:lumOff val="75000"/>
                    </a:schemeClr>
                  </a:gs>
                  <a:gs pos="100000">
                    <a:schemeClr val="accent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rcRect l="69459" t="63899" r="16834" b="13057"/>
          <a:stretch>
            <a:fillRect/>
          </a:stretch>
        </p:blipFill>
        <p:spPr>
          <a:xfrm>
            <a:off x="468630" y="937260"/>
            <a:ext cx="4294505" cy="341630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1"/>
          <a:srcRect l="82850" t="64895" r="15977" b="13055"/>
          <a:stretch>
            <a:fillRect/>
          </a:stretch>
        </p:blipFill>
        <p:spPr>
          <a:xfrm>
            <a:off x="4864100" y="175260"/>
            <a:ext cx="385445" cy="40779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1"/>
          <a:srcRect l="83930" t="68823" r="5667" b="15010"/>
          <a:stretch>
            <a:fillRect/>
          </a:stretch>
        </p:blipFill>
        <p:spPr>
          <a:xfrm>
            <a:off x="5249545" y="392430"/>
            <a:ext cx="4370705" cy="396113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691370" y="760730"/>
            <a:ext cx="15741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Phí đối tác &amp; ngân </a:t>
            </a:r>
            <a:r>
              <a:rPr lang="vi-VN" altLang="en-US"/>
              <a:t>hàng </a:t>
            </a:r>
            <a:endParaRPr lang="vi-V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9620250" y="1847215"/>
            <a:ext cx="22352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Chi phí vận </a:t>
            </a:r>
            <a:r>
              <a:rPr lang="vi-VN" altLang="en-US"/>
              <a:t>hành</a:t>
            </a:r>
            <a:endParaRPr lang="vi-VN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9620250" y="2656205"/>
            <a:ext cx="1978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Chi phí </a:t>
            </a:r>
            <a:r>
              <a:rPr lang="vi-VN" altLang="en-US"/>
              <a:t>marketing</a:t>
            </a:r>
            <a:endParaRPr lang="vi-V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9691370" y="3488055"/>
            <a:ext cx="1124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Khác</a:t>
            </a:r>
            <a:endParaRPr lang="vi-VN" altLang="en-US"/>
          </a:p>
        </p:txBody>
      </p:sp>
      <p:pic>
        <p:nvPicPr>
          <p:cNvPr id="11" name="Picture 10"/>
          <p:cNvPicPr/>
          <p:nvPr/>
        </p:nvPicPr>
        <p:blipFill>
          <a:blip r:embed="rId1"/>
          <a:srcRect l="69993" t="88645" r="26993" b="5689"/>
          <a:stretch>
            <a:fillRect/>
          </a:stretch>
        </p:blipFill>
        <p:spPr>
          <a:xfrm>
            <a:off x="675640" y="5014595"/>
            <a:ext cx="1268095" cy="89535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1943735" y="5278120"/>
            <a:ext cx="95408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chemeClr val="bg1"/>
                </a:solidFill>
                <a:highlight>
                  <a:srgbClr val="000080"/>
                </a:highlight>
              </a:rPr>
              <a:t>Tăng trưởng doanh thu mạnh - Tối ưu chi phí - Lợi nhuận bức phá</a:t>
            </a:r>
            <a:endParaRPr lang="vi-VN" altLang="en-US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</Words>
  <Application>WPS Presentation</Application>
  <PresentationFormat>Widescreen</PresentationFormat>
  <Paragraphs>60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Wingdings</vt:lpstr>
      <vt:lpstr>Times New Roman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admin</dc:creator>
  <cp:lastModifiedBy>Vinh Phạm</cp:lastModifiedBy>
  <cp:revision>11</cp:revision>
  <dcterms:created xsi:type="dcterms:W3CDTF">2026-10-26T02:15:00Z</dcterms:created>
  <dcterms:modified xsi:type="dcterms:W3CDTF">2026-10-26T05:32:13Z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CEC6847CD8E64532B829FA24BE456EBC_11</vt:lpwstr>
  </property>
</Properties>
</file>